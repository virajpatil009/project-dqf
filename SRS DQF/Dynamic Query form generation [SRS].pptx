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 id="267" r:id="rId3"/>
    <p:sldId id="262" r:id="rId4"/>
    <p:sldId id="263" r:id="rId5"/>
    <p:sldId id="264" r:id="rId6"/>
    <p:sldId id="272" r:id="rId7"/>
    <p:sldId id="274" r:id="rId8"/>
    <p:sldId id="275" r:id="rId9"/>
    <p:sldId id="276" r:id="rId10"/>
    <p:sldId id="277" r:id="rId11"/>
    <p:sldId id="278" r:id="rId12"/>
    <p:sldId id="279" r:id="rId13"/>
    <p:sldId id="280" r:id="rId14"/>
    <p:sldId id="281" r:id="rId15"/>
    <p:sldId id="289" r:id="rId16"/>
    <p:sldId id="282" r:id="rId17"/>
    <p:sldId id="286" r:id="rId18"/>
    <p:sldId id="283" r:id="rId19"/>
    <p:sldId id="288" r:id="rId20"/>
    <p:sldId id="290" r:id="rId21"/>
    <p:sldId id="287" r:id="rId22"/>
    <p:sldId id="285" r:id="rId23"/>
    <p:sldId id="284" r:id="rId24"/>
    <p:sldId id="26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ADA6F5F-C507-49CC-8C56-02CBA1C612CD}" type="datetimeFigureOut">
              <a:rPr lang="en-US" smtClean="0"/>
              <a:t>3/20/2017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4567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DA6F5F-C507-49CC-8C56-02CBA1C612CD}" type="datetimeFigureOut">
              <a:rPr lang="en-US" smtClean="0"/>
              <a:t>3/20/2017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2215319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DA6F5F-C507-49CC-8C56-02CBA1C612CD}" type="datetimeFigureOut">
              <a:rPr lang="en-US" smtClean="0"/>
              <a:t>3/20/2017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48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ADA6F5F-C507-49CC-8C56-02CBA1C612CD}" type="datetimeFigureOut">
              <a:rPr lang="en-US" smtClean="0"/>
              <a:t>3/20/2017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1009727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ADA6F5F-C507-49CC-8C56-02CBA1C612CD}" type="datetimeFigureOut">
              <a:rPr lang="en-US" smtClean="0"/>
              <a:t>3/20/2017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769821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ADA6F5F-C507-49CC-8C56-02CBA1C612CD}" type="datetimeFigureOut">
              <a:rPr lang="en-US" smtClean="0"/>
              <a:t>3/20/2017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1928470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ADA6F5F-C507-49CC-8C56-02CBA1C612CD}" type="datetimeFigureOut">
              <a:rPr lang="en-US" smtClean="0"/>
              <a:t>3/20/2017</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2695240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DA6F5F-C507-49CC-8C56-02CBA1C612CD}" type="datetimeFigureOut">
              <a:rPr lang="en-US" smtClean="0"/>
              <a:t>3/20/2017</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BB1E4B7-A06D-40DD-9C55-9E2A5F586242}" type="slidenum">
              <a:rPr lang="en-US" smtClean="0"/>
              <a:t>‹#›</a:t>
            </a:fld>
            <a:endParaRPr lang="en-US"/>
          </a:p>
        </p:txBody>
      </p:sp>
    </p:spTree>
    <p:extLst>
      <p:ext uri="{BB962C8B-B14F-4D97-AF65-F5344CB8AC3E}">
        <p14:creationId xmlns:p14="http://schemas.microsoft.com/office/powerpoint/2010/main" val="2270702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ADA6F5F-C507-49CC-8C56-02CBA1C612CD}" type="datetimeFigureOut">
              <a:rPr lang="en-US" smtClean="0"/>
              <a:t>3/20/2017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2471757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DA6F5F-C507-49CC-8C56-02CBA1C612CD}" type="datetimeFigureOut">
              <a:rPr lang="en-US" smtClean="0"/>
              <a:t>3/20/2017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3577059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DA6F5F-C507-49CC-8C56-02CBA1C612CD}" type="datetimeFigureOut">
              <a:rPr lang="en-US" smtClean="0"/>
              <a:t>3/20/2017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1E4B7-A06D-40DD-9C55-9E2A5F586242}" type="slidenum">
              <a:rPr lang="en-US" smtClean="0"/>
              <a:t>‹#›</a:t>
            </a:fld>
            <a:endParaRPr lang="en-US"/>
          </a:p>
        </p:txBody>
      </p:sp>
    </p:spTree>
    <p:extLst>
      <p:ext uri="{BB962C8B-B14F-4D97-AF65-F5344CB8AC3E}">
        <p14:creationId xmlns:p14="http://schemas.microsoft.com/office/powerpoint/2010/main" val="1111990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ADA6F5F-C507-49CC-8C56-02CBA1C612CD}" type="datetimeFigureOut">
              <a:rPr lang="en-US" smtClean="0"/>
              <a:t>3/20/2017</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BB1E4B7-A06D-40DD-9C55-9E2A5F58624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33154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6372" y="141668"/>
            <a:ext cx="7907628" cy="1545465"/>
          </a:xfrm>
        </p:spPr>
        <p:txBody>
          <a:bodyPr>
            <a:normAutofit/>
          </a:bodyPr>
          <a:lstStyle/>
          <a:p>
            <a:r>
              <a:rPr lang="en-US" sz="5400" b="1" u="sng" dirty="0" smtClean="0">
                <a:latin typeface="Times New Roman" panose="02020603050405020304" pitchFamily="18" charset="0"/>
                <a:cs typeface="Times New Roman" panose="02020603050405020304" pitchFamily="18" charset="0"/>
              </a:rPr>
              <a:t>Dynamic Query form for Database Queries </a:t>
            </a:r>
            <a:endParaRPr lang="en-US" sz="5400" b="1" u="sng" dirty="0">
              <a:latin typeface="Times New Roman" panose="02020603050405020304" pitchFamily="18" charset="0"/>
              <a:cs typeface="Times New Roman" panose="02020603050405020304" pitchFamily="18" charset="0"/>
            </a:endParaRPr>
          </a:p>
        </p:txBody>
      </p:sp>
      <p:sp>
        <p:nvSpPr>
          <p:cNvPr id="3" name="Rectangle 2"/>
          <p:cNvSpPr/>
          <p:nvPr/>
        </p:nvSpPr>
        <p:spPr>
          <a:xfrm>
            <a:off x="1983346" y="2188059"/>
            <a:ext cx="7160654" cy="1938992"/>
          </a:xfrm>
          <a:prstGeom prst="rect">
            <a:avLst/>
          </a:prstGeom>
        </p:spPr>
        <p:txBody>
          <a:bodyPr wrap="square">
            <a:spAutoFit/>
          </a:bodyPr>
          <a:lstStyle/>
          <a:p>
            <a:r>
              <a:rPr lang="en-US" sz="2400" b="1" u="sng" dirty="0"/>
              <a:t>PROJECT BY:</a:t>
            </a:r>
          </a:p>
          <a:p>
            <a:r>
              <a:rPr lang="en-US" sz="2400" dirty="0"/>
              <a:t>Aishwarya Jain			</a:t>
            </a:r>
            <a:r>
              <a:rPr lang="en-US" sz="2400" dirty="0" smtClean="0"/>
              <a:t>	13CMPN15</a:t>
            </a:r>
            <a:endParaRPr lang="en-US" sz="2400" dirty="0"/>
          </a:p>
          <a:p>
            <a:r>
              <a:rPr lang="en-US" sz="2400" dirty="0" err="1"/>
              <a:t>Viraj</a:t>
            </a:r>
            <a:r>
              <a:rPr lang="en-US" sz="2400" dirty="0"/>
              <a:t> </a:t>
            </a:r>
            <a:r>
              <a:rPr lang="en-US" sz="2400" dirty="0" err="1"/>
              <a:t>Patil</a:t>
            </a:r>
            <a:r>
              <a:rPr lang="en-US" sz="2400" dirty="0"/>
              <a:t>				13CMPN44</a:t>
            </a:r>
          </a:p>
          <a:p>
            <a:r>
              <a:rPr lang="en-US" sz="2400" dirty="0"/>
              <a:t>Aishwarya Shah			13CMPN52</a:t>
            </a:r>
          </a:p>
          <a:p>
            <a:r>
              <a:rPr lang="en-US" sz="2400" dirty="0" err="1"/>
              <a:t>Vaibhav</a:t>
            </a:r>
            <a:r>
              <a:rPr lang="en-US" sz="2400" dirty="0"/>
              <a:t> </a:t>
            </a:r>
            <a:r>
              <a:rPr lang="en-US" sz="2400" dirty="0" err="1"/>
              <a:t>Upadhyay</a:t>
            </a:r>
            <a:r>
              <a:rPr lang="en-US" sz="2400" dirty="0"/>
              <a:t> </a:t>
            </a:r>
            <a:r>
              <a:rPr lang="en-US" sz="2400" dirty="0" smtClean="0"/>
              <a:t>		</a:t>
            </a:r>
            <a:r>
              <a:rPr lang="en-US" sz="2400" dirty="0"/>
              <a:t>	</a:t>
            </a:r>
            <a:r>
              <a:rPr lang="en-US" sz="2400" dirty="0" smtClean="0"/>
              <a:t>13CMPN59</a:t>
            </a:r>
            <a:endParaRPr lang="en-US" sz="2400" dirty="0" smtClean="0"/>
          </a:p>
        </p:txBody>
      </p:sp>
    </p:spTree>
    <p:extLst>
      <p:ext uri="{BB962C8B-B14F-4D97-AF65-F5344CB8AC3E}">
        <p14:creationId xmlns:p14="http://schemas.microsoft.com/office/powerpoint/2010/main" val="4270288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smtClean="0">
                <a:latin typeface="Times New Roman" panose="02020603050405020304" pitchFamily="18" charset="0"/>
                <a:cs typeface="Times New Roman" panose="02020603050405020304" pitchFamily="18" charset="0"/>
              </a:rPr>
              <a:t>Problem Statement</a:t>
            </a:r>
            <a:endParaRPr lang="en-US" sz="5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85611" y="1845734"/>
            <a:ext cx="10370069" cy="402336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build a dynamic query form interface by capturing users preferences and rank query form components.</a:t>
            </a:r>
            <a:endParaRPr lang="en-US" sz="2400" dirty="0"/>
          </a:p>
        </p:txBody>
      </p:sp>
    </p:spTree>
    <p:extLst>
      <p:ext uri="{BB962C8B-B14F-4D97-AF65-F5344CB8AC3E}">
        <p14:creationId xmlns:p14="http://schemas.microsoft.com/office/powerpoint/2010/main" val="4282227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45" y="222209"/>
            <a:ext cx="10846587" cy="1450757"/>
          </a:xfrm>
        </p:spPr>
        <p:txBody>
          <a:bodyPr>
            <a:normAutofit/>
          </a:bodyPr>
          <a:lstStyle/>
          <a:p>
            <a:r>
              <a:rPr lang="en-IN" sz="5400" b="1" dirty="0" smtClean="0">
                <a:latin typeface="Times New Roman" panose="02020603050405020304" pitchFamily="18" charset="0"/>
                <a:cs typeface="Times New Roman" panose="02020603050405020304" pitchFamily="18" charset="0"/>
              </a:rPr>
              <a:t>    Problem </a:t>
            </a:r>
            <a:r>
              <a:rPr lang="en-IN" sz="5400" b="1" dirty="0">
                <a:latin typeface="Times New Roman" panose="02020603050405020304" pitchFamily="18" charset="0"/>
                <a:cs typeface="Times New Roman" panose="02020603050405020304" pitchFamily="18" charset="0"/>
              </a:rPr>
              <a:t>Description:</a:t>
            </a:r>
            <a:endParaRPr lang="en-US" sz="5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2277" y="1672965"/>
            <a:ext cx="11397802" cy="4830865"/>
          </a:xfrm>
        </p:spPr>
        <p:txBody>
          <a:bodyPr>
            <a:normAutofit fontScale="77500" lnSpcReduction="20000"/>
          </a:bodyPr>
          <a:lstStyle/>
          <a:p>
            <a:pPr marL="0" indent="0">
              <a:lnSpc>
                <a:spcPct val="170000"/>
              </a:lnSpc>
              <a:buNone/>
            </a:pPr>
            <a:r>
              <a:rPr lang="en-US" sz="2600" dirty="0" smtClean="0">
                <a:latin typeface="Times New Roman" panose="02020603050405020304" pitchFamily="18" charset="0"/>
                <a:cs typeface="Times New Roman" panose="02020603050405020304" pitchFamily="18" charset="0"/>
              </a:rPr>
              <a:t>Modern </a:t>
            </a:r>
            <a:r>
              <a:rPr lang="en-US" sz="2600" dirty="0">
                <a:latin typeface="Times New Roman" panose="02020603050405020304" pitchFamily="18" charset="0"/>
                <a:cs typeface="Times New Roman" panose="02020603050405020304" pitchFamily="18" charset="0"/>
              </a:rPr>
              <a:t>scientific databases and web databases maintain large and heterogeneous data. These real-world databases contain over hundreds or even thousands of relations and attributes. Traditional predefined query forms are not able to satisfy various ad-hoc queries from users on those databases. This paper proposes DQF, a novel database query form interface, which </a:t>
            </a:r>
            <a:r>
              <a:rPr lang="en-US" sz="2600" dirty="0" smtClean="0">
                <a:latin typeface="Times New Roman" panose="02020603050405020304" pitchFamily="18" charset="0"/>
                <a:cs typeface="Times New Roman" panose="02020603050405020304" pitchFamily="18" charset="0"/>
              </a:rPr>
              <a:t>is able </a:t>
            </a:r>
            <a:r>
              <a:rPr lang="en-US" sz="2600" dirty="0">
                <a:latin typeface="Times New Roman" panose="02020603050405020304" pitchFamily="18" charset="0"/>
                <a:cs typeface="Times New Roman" panose="02020603050405020304" pitchFamily="18" charset="0"/>
              </a:rPr>
              <a:t>to dynamically generate query forms. The essence of DQF is to capture user’s preference and rank query form components, assisting him/her to make decisions. The generation of a query form is an iterative process and is guided by the user. At each iteration, the system automatically generates ranking lists of form components and the user then adds the desired form components into the query form. The ranking of form components is based on the captured user preference. A user can also fill the query form and submit queries to view the query result at each iteration. In this way, a query form could be dynamically renewed till the user satisfies with the </a:t>
            </a:r>
            <a:r>
              <a:rPr lang="en-US" sz="2600" dirty="0" smtClean="0">
                <a:latin typeface="Times New Roman" panose="02020603050405020304" pitchFamily="18" charset="0"/>
                <a:cs typeface="Times New Roman" panose="02020603050405020304" pitchFamily="18" charset="0"/>
              </a:rPr>
              <a:t>query results</a:t>
            </a:r>
            <a:r>
              <a:rPr lang="en-US" sz="2600" dirty="0">
                <a:latin typeface="Times New Roman" panose="02020603050405020304" pitchFamily="18" charset="0"/>
                <a:cs typeface="Times New Roman" panose="02020603050405020304" pitchFamily="18" charset="0"/>
              </a:rPr>
              <a:t>.</a:t>
            </a:r>
          </a:p>
          <a:p>
            <a:pPr marL="0" indent="0">
              <a:lnSpc>
                <a:spcPct val="17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0276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1217" y="734096"/>
            <a:ext cx="10792496" cy="923330"/>
          </a:xfrm>
          <a:prstGeom prst="rect">
            <a:avLst/>
          </a:prstGeom>
        </p:spPr>
        <p:txBody>
          <a:bodyPr wrap="square">
            <a:spAutoFit/>
          </a:bodyPr>
          <a:lstStyle/>
          <a:p>
            <a:r>
              <a:rPr lang="en-IN" sz="5400" b="1" dirty="0" smtClean="0">
                <a:latin typeface="Times New Roman" panose="02020603050405020304" pitchFamily="18" charset="0"/>
                <a:cs typeface="Times New Roman" panose="02020603050405020304" pitchFamily="18" charset="0"/>
              </a:rPr>
              <a:t>  Purpose:</a:t>
            </a:r>
            <a:endParaRPr lang="en-US" sz="20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605307" y="1657426"/>
            <a:ext cx="10550373" cy="4211668"/>
          </a:xfrm>
        </p:spPr>
        <p:txBody>
          <a:bodyPr/>
          <a:lstStyle/>
          <a:p>
            <a:pPr marL="0" indent="0">
              <a:buNone/>
            </a:pPr>
            <a:endParaRPr lang="en-IN" sz="18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How to let non-expert users make use of the relational database is a challenging topic. A lot of research works focus on database interfaces which assist users to query the relational database without SQL. We propose a dynamic query form system which generates the query forms according to the user’s desire at run time. The system provides a solution for the query interface in large and complex databases.</a:t>
            </a:r>
          </a:p>
          <a:p>
            <a:r>
              <a:rPr lang="en-IN" sz="18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80037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93" y="286603"/>
            <a:ext cx="10058400" cy="1450757"/>
          </a:xfrm>
        </p:spPr>
        <p:txBody>
          <a:bodyPr>
            <a:normAutofit/>
          </a:bodyPr>
          <a:lstStyle/>
          <a:p>
            <a:r>
              <a:rPr lang="en-IN" sz="5400" b="1" dirty="0" smtClean="0">
                <a:latin typeface="Times New Roman" panose="02020603050405020304" pitchFamily="18" charset="0"/>
                <a:cs typeface="Times New Roman" panose="02020603050405020304" pitchFamily="18" charset="0"/>
              </a:rPr>
              <a:t> </a:t>
            </a:r>
            <a:r>
              <a:rPr lang="en-IN" sz="5400" b="1" dirty="0">
                <a:latin typeface="Times New Roman" panose="02020603050405020304" pitchFamily="18" charset="0"/>
                <a:cs typeface="Times New Roman" panose="02020603050405020304" pitchFamily="18" charset="0"/>
              </a:rPr>
              <a:t>Scope:</a:t>
            </a:r>
            <a:endParaRPr lang="en-US"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51293" y="1845734"/>
            <a:ext cx="10304387" cy="4593704"/>
          </a:xfrm>
        </p:spPr>
        <p:txBody>
          <a:bodyPr>
            <a:normAutofit/>
          </a:bodyPr>
          <a:lstStyle/>
          <a:p>
            <a:pPr marL="0" indent="0">
              <a:buNone/>
            </a:pPr>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system in software requirement specification is designed to let a </a:t>
            </a:r>
            <a:r>
              <a:rPr lang="en-US" sz="2400" dirty="0" smtClean="0">
                <a:latin typeface="Times New Roman" panose="02020603050405020304" pitchFamily="18" charset="0"/>
                <a:cs typeface="Times New Roman" panose="02020603050405020304" pitchFamily="18" charset="0"/>
              </a:rPr>
              <a:t>non-expert user </a:t>
            </a:r>
            <a:r>
              <a:rPr lang="en-US" sz="2400" dirty="0">
                <a:latin typeface="Times New Roman" panose="02020603050405020304" pitchFamily="18" charset="0"/>
                <a:cs typeface="Times New Roman" panose="02020603050405020304" pitchFamily="18" charset="0"/>
              </a:rPr>
              <a:t>interact with the database for retrieval of data according to his/her need and his/her preferences. While the proposed system will assist him/her to make decisions.</a:t>
            </a:r>
          </a:p>
          <a:p>
            <a:r>
              <a:rPr lang="en-US" sz="2400" dirty="0">
                <a:latin typeface="Times New Roman" panose="02020603050405020304" pitchFamily="18" charset="0"/>
                <a:cs typeface="Times New Roman" panose="02020603050405020304" pitchFamily="18" charset="0"/>
              </a:rPr>
              <a:t> </a:t>
            </a:r>
          </a:p>
          <a:p>
            <a:pPr>
              <a:lnSpc>
                <a:spcPct val="16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8685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276" y="257577"/>
            <a:ext cx="10851524" cy="5919386"/>
          </a:xfrm>
        </p:spPr>
        <p:txBody>
          <a:bodyPr/>
          <a:lstStyle/>
          <a:p>
            <a:r>
              <a:rPr lang="en-US" sz="3600" b="1" dirty="0" smtClean="0">
                <a:latin typeface="Times New Roman" panose="02020603050405020304" pitchFamily="18" charset="0"/>
                <a:cs typeface="Times New Roman" panose="02020603050405020304" pitchFamily="18" charset="0"/>
              </a:rPr>
              <a:t>Product Perspective</a:t>
            </a:r>
          </a:p>
          <a:p>
            <a:r>
              <a:rPr lang="en-US" sz="2400" b="1" dirty="0" smtClean="0">
                <a:latin typeface="Times New Roman" panose="02020603050405020304" pitchFamily="18" charset="0"/>
                <a:cs typeface="Times New Roman" panose="02020603050405020304" pitchFamily="18" charset="0"/>
              </a:rPr>
              <a:t>Flowchart   Diagram :</a:t>
            </a:r>
            <a:endParaRPr lang="en-US" sz="1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428" y="1468192"/>
            <a:ext cx="10333766" cy="4747408"/>
          </a:xfrm>
          <a:prstGeom prst="rect">
            <a:avLst/>
          </a:prstGeom>
        </p:spPr>
      </p:pic>
    </p:spTree>
    <p:extLst>
      <p:ext uri="{BB962C8B-B14F-4D97-AF65-F5344CB8AC3E}">
        <p14:creationId xmlns:p14="http://schemas.microsoft.com/office/powerpoint/2010/main" val="3951672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1159099"/>
            <a:ext cx="10589010" cy="1093416"/>
          </a:xfrm>
        </p:spPr>
        <p:txBody>
          <a:bodyPr>
            <a:noAutofit/>
          </a:bodyPr>
          <a:lstStyle/>
          <a:p>
            <a:r>
              <a:rPr lang="en-US" sz="5400" b="1" dirty="0"/>
              <a:t>Requirements:</a:t>
            </a:r>
            <a:r>
              <a:rPr lang="en-US" sz="5400" dirty="0"/>
              <a:t/>
            </a:r>
            <a:br>
              <a:rPr lang="en-US" sz="5400" dirty="0"/>
            </a:br>
            <a:endParaRPr lang="en-US" sz="5400" dirty="0"/>
          </a:p>
        </p:txBody>
      </p:sp>
      <p:sp>
        <p:nvSpPr>
          <p:cNvPr id="3" name="Content Placeholder 2"/>
          <p:cNvSpPr>
            <a:spLocks noGrp="1"/>
          </p:cNvSpPr>
          <p:nvPr>
            <p:ph sz="half" idx="1"/>
          </p:nvPr>
        </p:nvSpPr>
        <p:spPr/>
        <p:txBody>
          <a:bodyPr>
            <a:normAutofit/>
          </a:bodyPr>
          <a:lstStyle/>
          <a:p>
            <a:r>
              <a:rPr lang="en-US" sz="2400" b="1" dirty="0"/>
              <a:t>Software Requirements</a:t>
            </a:r>
            <a:endParaRPr lang="en-US" sz="2400" b="1" dirty="0" smtClean="0"/>
          </a:p>
          <a:p>
            <a:r>
              <a:rPr lang="en-US" sz="2400" b="1" dirty="0" smtClean="0"/>
              <a:t>Visual Studio 2015</a:t>
            </a:r>
          </a:p>
          <a:p>
            <a:r>
              <a:rPr lang="en-US" sz="2400" b="1" dirty="0" smtClean="0"/>
              <a:t>Libraries Used: </a:t>
            </a:r>
            <a:r>
              <a:rPr lang="en-US" sz="2400" b="1" dirty="0" err="1" smtClean="0"/>
              <a:t>FontAwesome</a:t>
            </a:r>
            <a:r>
              <a:rPr lang="en-US" sz="2400" b="1" dirty="0" smtClean="0"/>
              <a:t>, Bootstrap</a:t>
            </a:r>
            <a:r>
              <a:rPr lang="en-US" sz="2400" b="1" dirty="0"/>
              <a:t> </a:t>
            </a:r>
            <a:endParaRPr lang="en-US" sz="2400" dirty="0"/>
          </a:p>
          <a:p>
            <a:r>
              <a:rPr lang="en-US" sz="2400" b="1" dirty="0"/>
              <a:t>Language Used</a:t>
            </a:r>
            <a:r>
              <a:rPr lang="en-US" sz="2400" dirty="0"/>
              <a:t>: </a:t>
            </a:r>
            <a:r>
              <a:rPr lang="en-US" sz="2400" dirty="0" smtClean="0"/>
              <a:t>HTML</a:t>
            </a:r>
            <a:r>
              <a:rPr lang="en-US" sz="2400" dirty="0"/>
              <a:t>, CSS, </a:t>
            </a:r>
            <a:r>
              <a:rPr lang="en-US" sz="2400" dirty="0" smtClean="0"/>
              <a:t>Asp </a:t>
            </a:r>
            <a:r>
              <a:rPr lang="en-US" sz="2400" dirty="0" err="1" smtClean="0"/>
              <a:t>.Net</a:t>
            </a:r>
            <a:r>
              <a:rPr lang="en-US" sz="2400" dirty="0" smtClean="0"/>
              <a:t>, C#	</a:t>
            </a:r>
            <a:r>
              <a:rPr lang="en-US" sz="2400" dirty="0" smtClean="0"/>
              <a:t>.</a:t>
            </a:r>
            <a:endParaRPr lang="en-US" sz="2400" dirty="0"/>
          </a:p>
          <a:p>
            <a:r>
              <a:rPr lang="en-US" sz="2400" b="1" dirty="0"/>
              <a:t> </a:t>
            </a:r>
            <a:endParaRPr lang="en-US" sz="2400" dirty="0"/>
          </a:p>
          <a:p>
            <a:endParaRPr lang="en-US" dirty="0"/>
          </a:p>
        </p:txBody>
      </p:sp>
      <p:sp>
        <p:nvSpPr>
          <p:cNvPr id="4" name="Content Placeholder 3"/>
          <p:cNvSpPr>
            <a:spLocks noGrp="1"/>
          </p:cNvSpPr>
          <p:nvPr>
            <p:ph sz="half" idx="2"/>
          </p:nvPr>
        </p:nvSpPr>
        <p:spPr/>
        <p:txBody>
          <a:bodyPr>
            <a:normAutofit/>
          </a:bodyPr>
          <a:lstStyle/>
          <a:p>
            <a:pPr marL="0" indent="0">
              <a:buNone/>
            </a:pPr>
            <a:r>
              <a:rPr lang="en-US" sz="2600" b="1" dirty="0" smtClean="0"/>
              <a:t>Hardware </a:t>
            </a:r>
            <a:r>
              <a:rPr lang="en-US" sz="2600" b="1" dirty="0"/>
              <a:t>Requirements[Minimum</a:t>
            </a:r>
            <a:r>
              <a:rPr lang="en-US" sz="2600" b="1" dirty="0" smtClean="0"/>
              <a:t>]:</a:t>
            </a:r>
            <a:endParaRPr lang="en-US" sz="2600" dirty="0"/>
          </a:p>
          <a:p>
            <a:pPr lvl="0"/>
            <a:r>
              <a:rPr lang="en-US" sz="2600" dirty="0"/>
              <a:t>Intel Core 2 Duo @2.83 GHz</a:t>
            </a:r>
          </a:p>
          <a:p>
            <a:pPr lvl="0"/>
            <a:r>
              <a:rPr lang="en-US" sz="2600" dirty="0"/>
              <a:t>80 GB HDD</a:t>
            </a:r>
          </a:p>
          <a:p>
            <a:pPr lvl="0"/>
            <a:r>
              <a:rPr lang="en-US" sz="2600" dirty="0"/>
              <a:t>1 GB RAM</a:t>
            </a:r>
          </a:p>
          <a:p>
            <a:r>
              <a:rPr lang="en-US" sz="2600" dirty="0"/>
              <a:t> </a:t>
            </a:r>
          </a:p>
          <a:p>
            <a:endParaRPr lang="en-US" dirty="0"/>
          </a:p>
        </p:txBody>
      </p:sp>
    </p:spTree>
    <p:extLst>
      <p:ext uri="{BB962C8B-B14F-4D97-AF65-F5344CB8AC3E}">
        <p14:creationId xmlns:p14="http://schemas.microsoft.com/office/powerpoint/2010/main" val="2755894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249" y="943426"/>
            <a:ext cx="10058400" cy="1450757"/>
          </a:xfrm>
        </p:spPr>
        <p:txBody>
          <a:bodyPr>
            <a:normAutofit fontScale="90000"/>
          </a:bodyPr>
          <a:lstStyle/>
          <a:p>
            <a:r>
              <a:rPr lang="en-US" b="1" dirty="0" smtClean="0"/>
              <a:t> </a:t>
            </a:r>
            <a:r>
              <a:rPr lang="en-US" sz="6000" b="1" dirty="0"/>
              <a:t>Product Functions:</a:t>
            </a:r>
            <a:r>
              <a:rPr lang="en-US" sz="6000" dirty="0"/>
              <a:t/>
            </a:r>
            <a:br>
              <a:rPr lang="en-US" sz="6000" dirty="0"/>
            </a:br>
            <a:endParaRPr lang="en-US" sz="6000" dirty="0"/>
          </a:p>
        </p:txBody>
      </p:sp>
      <p:sp>
        <p:nvSpPr>
          <p:cNvPr id="3" name="Content Placeholder 2"/>
          <p:cNvSpPr>
            <a:spLocks noGrp="1"/>
          </p:cNvSpPr>
          <p:nvPr>
            <p:ph idx="1"/>
          </p:nvPr>
        </p:nvSpPr>
        <p:spPr>
          <a:xfrm>
            <a:off x="605307" y="1845733"/>
            <a:ext cx="11307651" cy="4310367"/>
          </a:xfrm>
        </p:spPr>
        <p:txBody>
          <a:bodyPr>
            <a:normAutofit fontScale="92500" lnSpcReduction="20000"/>
          </a:bodyPr>
          <a:lstStyle/>
          <a:p>
            <a:r>
              <a:rPr lang="en-US" sz="2600" b="1" u="sng" dirty="0">
                <a:latin typeface="Times New Roman" panose="02020603050405020304" pitchFamily="18" charset="0"/>
                <a:cs typeface="Times New Roman" panose="02020603050405020304" pitchFamily="18" charset="0"/>
              </a:rPr>
              <a:t>1.  Keyword search with Query form generation</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a:t>
            </a:r>
          </a:p>
          <a:p>
            <a:r>
              <a:rPr lang="en-US" sz="2600" dirty="0">
                <a:latin typeface="Times New Roman" panose="02020603050405020304" pitchFamily="18" charset="0"/>
                <a:cs typeface="Times New Roman" panose="02020603050405020304" pitchFamily="18" charset="0"/>
              </a:rPr>
              <a:t>In the future it creates good deal of query forms. The user has to provide some keywords get the query forms from the large databases. The database that contains information in the form of rich text as data schemas and tuples works well. Again we can understand one difficulty with this user doesn’t have appropriate keywords to start.</a:t>
            </a:r>
          </a:p>
          <a:p>
            <a:r>
              <a:rPr lang="en-IN" sz="2600" b="1" dirty="0">
                <a:latin typeface="Times New Roman" panose="02020603050405020304" pitchFamily="18" charset="0"/>
                <a:cs typeface="Times New Roman" panose="02020603050405020304" pitchFamily="18" charset="0"/>
              </a:rPr>
              <a:t> </a:t>
            </a:r>
            <a:endParaRPr lang="en-IN" sz="2600" b="1" dirty="0" smtClean="0">
              <a:latin typeface="Times New Roman" panose="02020603050405020304" pitchFamily="18" charset="0"/>
              <a:cs typeface="Times New Roman" panose="02020603050405020304" pitchFamily="18" charset="0"/>
            </a:endParaRPr>
          </a:p>
          <a:p>
            <a:r>
              <a:rPr lang="en-IN" sz="2600" b="1" u="sng" dirty="0" smtClean="0">
                <a:latin typeface="Times New Roman" panose="02020603050405020304" pitchFamily="18" charset="0"/>
                <a:cs typeface="Times New Roman" panose="02020603050405020304" pitchFamily="18" charset="0"/>
              </a:rPr>
              <a:t>2</a:t>
            </a:r>
            <a:r>
              <a:rPr lang="en-IN" sz="2600" b="1" u="sng" dirty="0">
                <a:latin typeface="Times New Roman" panose="02020603050405020304" pitchFamily="18" charset="0"/>
                <a:cs typeface="Times New Roman" panose="02020603050405020304" pitchFamily="18" charset="0"/>
              </a:rPr>
              <a:t>. Query Form Enrichment </a:t>
            </a:r>
            <a:endParaRPr lang="en-US"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1)DQF recommends a ranked list of query form components to the user.</a:t>
            </a:r>
            <a:endParaRPr lang="en-US"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2) The user selects the desired form components into the current query form.</a:t>
            </a:r>
            <a:endParaRPr lang="en-US"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01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5917" y="827516"/>
            <a:ext cx="10058400" cy="1450757"/>
          </a:xfrm>
        </p:spPr>
        <p:txBody>
          <a:bodyPr>
            <a:noAutofit/>
          </a:bodyPr>
          <a:lstStyle/>
          <a:p>
            <a:r>
              <a:rPr lang="en-US" sz="5400" b="1" dirty="0" smtClean="0"/>
              <a:t> </a:t>
            </a:r>
            <a:r>
              <a:rPr lang="en-US" sz="5400" b="1" dirty="0"/>
              <a:t>Product Functions:</a:t>
            </a:r>
            <a:r>
              <a:rPr lang="en-US" sz="5400" dirty="0"/>
              <a:t/>
            </a:r>
            <a:br>
              <a:rPr lang="en-US" sz="5400" dirty="0"/>
            </a:br>
            <a:endParaRPr lang="en-US" sz="5400" dirty="0"/>
          </a:p>
        </p:txBody>
      </p:sp>
      <p:sp>
        <p:nvSpPr>
          <p:cNvPr id="3" name="Content Placeholder 2"/>
          <p:cNvSpPr>
            <a:spLocks noGrp="1"/>
          </p:cNvSpPr>
          <p:nvPr>
            <p:ph idx="1"/>
          </p:nvPr>
        </p:nvSpPr>
        <p:spPr>
          <a:xfrm>
            <a:off x="515155" y="1737361"/>
            <a:ext cx="11676845" cy="4560408"/>
          </a:xfrm>
        </p:spPr>
        <p:txBody>
          <a:bodyPr>
            <a:noAutofit/>
          </a:bodyPr>
          <a:lstStyle/>
          <a:p>
            <a:r>
              <a:rPr lang="en-IN" sz="2400" b="1" u="sng" dirty="0">
                <a:latin typeface="Times New Roman" panose="02020603050405020304" pitchFamily="18" charset="0"/>
                <a:cs typeface="Times New Roman" panose="02020603050405020304" pitchFamily="18" charset="0"/>
              </a:rPr>
              <a:t>3. Query execution</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1)  The user fills out the current query form and submit a </a:t>
            </a:r>
            <a:r>
              <a:rPr lang="en-IN" sz="2400" dirty="0" smtClean="0">
                <a:latin typeface="Times New Roman" panose="02020603050405020304" pitchFamily="18" charset="0"/>
                <a:cs typeface="Times New Roman" panose="02020603050405020304" pitchFamily="18" charset="0"/>
              </a:rPr>
              <a:t>query.</a:t>
            </a:r>
            <a:endParaRPr lang="en-US" sz="2400" dirty="0">
              <a:latin typeface="Times New Roman" panose="02020603050405020304" pitchFamily="18" charset="0"/>
              <a:cs typeface="Times New Roman" panose="02020603050405020304" pitchFamily="18" charset="0"/>
            </a:endParaRPr>
          </a:p>
          <a:p>
            <a:r>
              <a:rPr lang="en-IN" sz="2400" dirty="0" smtClean="0">
                <a:latin typeface="Times New Roman" panose="02020603050405020304" pitchFamily="18" charset="0"/>
                <a:cs typeface="Times New Roman" panose="02020603050405020304" pitchFamily="18" charset="0"/>
              </a:rPr>
              <a:t>2</a:t>
            </a:r>
            <a:r>
              <a:rPr lang="en-IN" sz="2400" dirty="0">
                <a:latin typeface="Times New Roman" panose="02020603050405020304" pitchFamily="18" charset="0"/>
                <a:cs typeface="Times New Roman" panose="02020603050405020304" pitchFamily="18" charset="0"/>
              </a:rPr>
              <a:t>) DQF executes the query and shows the results.</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3) The user provides the feedback about the query results.</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b="1" u="sng" dirty="0" smtClean="0">
                <a:latin typeface="Times New Roman" panose="02020603050405020304" pitchFamily="18" charset="0"/>
                <a:cs typeface="Times New Roman" panose="02020603050405020304" pitchFamily="18" charset="0"/>
              </a:rPr>
              <a:t>4</a:t>
            </a:r>
            <a:r>
              <a:rPr lang="en-IN" sz="2400" b="1" u="sng" dirty="0">
                <a:latin typeface="Times New Roman" panose="02020603050405020304" pitchFamily="18" charset="0"/>
                <a:cs typeface="Times New Roman" panose="02020603050405020304" pitchFamily="18" charset="0"/>
              </a:rPr>
              <a:t>. Customized Query Form</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They provide visual interfaces for developers to create or customize query forms. The problem of those tools is that, they are provided for the professional developers who are familiar with their databases, not for end-users. If proposed a system which allows end-users to customize the existing query form at run time. However, an end-user may not be familiar with the database. If the database schema is very large, it is difficult for them to find appropriate database entities and attributes and to create desired query forms.</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7579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249" y="879032"/>
            <a:ext cx="10058400" cy="1450757"/>
          </a:xfrm>
        </p:spPr>
        <p:txBody>
          <a:bodyPr>
            <a:noAutofit/>
          </a:bodyPr>
          <a:lstStyle/>
          <a:p>
            <a:r>
              <a:rPr lang="en-US" sz="5400" b="1" dirty="0" smtClean="0"/>
              <a:t> </a:t>
            </a:r>
            <a:r>
              <a:rPr lang="en-US" sz="5400" b="1" dirty="0"/>
              <a:t>Product Functions:</a:t>
            </a:r>
            <a:r>
              <a:rPr lang="en-US" sz="5400" dirty="0"/>
              <a:t/>
            </a:r>
            <a:br>
              <a:rPr lang="en-US" sz="5400" dirty="0"/>
            </a:br>
            <a:endParaRPr lang="en-US" sz="5400" dirty="0"/>
          </a:p>
        </p:txBody>
      </p:sp>
      <p:sp>
        <p:nvSpPr>
          <p:cNvPr id="3" name="Content Placeholder 2"/>
          <p:cNvSpPr>
            <a:spLocks noGrp="1"/>
          </p:cNvSpPr>
          <p:nvPr>
            <p:ph idx="1"/>
          </p:nvPr>
        </p:nvSpPr>
        <p:spPr>
          <a:xfrm>
            <a:off x="798490" y="1845734"/>
            <a:ext cx="10357190" cy="4023360"/>
          </a:xfrm>
        </p:spPr>
        <p:txBody>
          <a:bodyPr/>
          <a:lstStyle/>
          <a:p>
            <a:r>
              <a:rPr lang="en-IN" b="1" u="sng" dirty="0" smtClean="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5. Database Query Recommendation</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Recent studies introduce collaborative approaches to recommend database query components for database exploration. They treat SQL queries as items in the collaborative filtering approach, and recommend similar queries to related users</a:t>
            </a:r>
            <a:endParaRPr lang="en-US" sz="2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713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3274"/>
            <a:ext cx="10058400" cy="1450757"/>
          </a:xfrm>
        </p:spPr>
        <p:txBody>
          <a:bodyPr>
            <a:noAutofit/>
          </a:bodyPr>
          <a:lstStyle/>
          <a:p>
            <a:r>
              <a:rPr lang="en-US" sz="5400" b="1" dirty="0" smtClean="0"/>
              <a:t> </a:t>
            </a:r>
            <a:r>
              <a:rPr lang="en-US" sz="5400" b="1" dirty="0"/>
              <a:t>SPECIFIC REQUIREMENTS</a:t>
            </a:r>
            <a:r>
              <a:rPr lang="en-US" sz="5400" dirty="0"/>
              <a:t/>
            </a:r>
            <a:br>
              <a:rPr lang="en-US" sz="5400" dirty="0"/>
            </a:br>
            <a:endParaRPr lang="en-US" sz="5400" dirty="0"/>
          </a:p>
        </p:txBody>
      </p:sp>
      <p:sp>
        <p:nvSpPr>
          <p:cNvPr id="3" name="Content Placeholder 2"/>
          <p:cNvSpPr>
            <a:spLocks noGrp="1"/>
          </p:cNvSpPr>
          <p:nvPr>
            <p:ph idx="1"/>
          </p:nvPr>
        </p:nvSpPr>
        <p:spPr/>
        <p:txBody>
          <a:bodyPr>
            <a:normAutofit lnSpcReduction="10000"/>
          </a:bodyPr>
          <a:lstStyle/>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External Interface:</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The input will be in the form of keyword as the user preferences and his/her requirements. Also the keyword may be from ranked components as assisted by the system.</a:t>
            </a:r>
          </a:p>
          <a:p>
            <a:r>
              <a:rPr lang="en-US" sz="2400" dirty="0">
                <a:latin typeface="Times New Roman" panose="02020603050405020304" pitchFamily="18" charset="0"/>
                <a:cs typeface="Times New Roman" panose="02020603050405020304" pitchFamily="18" charset="0"/>
              </a:rPr>
              <a:t> </a:t>
            </a:r>
          </a:p>
          <a:p>
            <a:r>
              <a:rPr lang="en-US" sz="2400" b="1" dirty="0">
                <a:latin typeface="Times New Roman" panose="02020603050405020304" pitchFamily="18" charset="0"/>
                <a:cs typeface="Times New Roman" panose="02020603050405020304" pitchFamily="18" charset="0"/>
              </a:rPr>
              <a:t>Output:</a:t>
            </a:r>
            <a:r>
              <a:rPr lang="en-US" sz="2400" dirty="0">
                <a:latin typeface="Times New Roman" panose="02020603050405020304" pitchFamily="18" charset="0"/>
                <a:cs typeface="Times New Roman" panose="02020603050405020304" pitchFamily="18" charset="0"/>
              </a:rPr>
              <a:t> Output will be the result of query as refined by the user.</a:t>
            </a:r>
          </a:p>
          <a:p>
            <a:r>
              <a:rPr lang="en-US" sz="24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147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50243"/>
            <a:ext cx="10058400" cy="1450757"/>
          </a:xfrm>
        </p:spPr>
        <p:txBody>
          <a:bodyPr/>
          <a:lstStyle/>
          <a:p>
            <a:r>
              <a:rPr lang="en-US" sz="5400" b="1" dirty="0" smtClean="0"/>
              <a:t> </a:t>
            </a:r>
            <a:r>
              <a:rPr lang="en-US" sz="5400" b="1" dirty="0"/>
              <a:t>SPECIFIC REQUIREMENTS</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Functional Requirements: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The system is proposed to have the following modules along with functional requirements.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Query Form Enrichment</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Query Execution </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Customized Query Form</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Database Query Recommendation</a:t>
            </a:r>
            <a:endParaRPr lang="en-US" sz="24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9664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smtClean="0"/>
              <a:t> </a:t>
            </a:r>
            <a:r>
              <a:rPr lang="en-US" sz="5400" b="1" dirty="0"/>
              <a:t>SPECIFIC REQUIREMENTS</a:t>
            </a:r>
            <a:endParaRPr lang="en-US" sz="5400" dirty="0"/>
          </a:p>
        </p:txBody>
      </p:sp>
      <p:sp>
        <p:nvSpPr>
          <p:cNvPr id="3" name="Content Placeholder 2"/>
          <p:cNvSpPr>
            <a:spLocks noGrp="1"/>
          </p:cNvSpPr>
          <p:nvPr>
            <p:ph idx="1"/>
          </p:nvPr>
        </p:nvSpPr>
        <p:spPr/>
        <p:txBody>
          <a:bodyPr>
            <a:noAutofit/>
          </a:bodyPr>
          <a:lstStyle/>
          <a:p>
            <a:r>
              <a:rPr lang="en-US" sz="2400" b="1" dirty="0" smtClean="0">
                <a:latin typeface="Times New Roman" panose="02020603050405020304" pitchFamily="18" charset="0"/>
                <a:cs typeface="Times New Roman" panose="02020603050405020304" pitchFamily="18" charset="0"/>
              </a:rPr>
              <a:t>Performance </a:t>
            </a:r>
            <a:r>
              <a:rPr lang="en-US" sz="2400" b="1" dirty="0">
                <a:latin typeface="Times New Roman" panose="02020603050405020304" pitchFamily="18" charset="0"/>
                <a:cs typeface="Times New Roman" panose="02020603050405020304" pitchFamily="18" charset="0"/>
              </a:rPr>
              <a:t>Requirements: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system is proposed to have the following performance requirements </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system should provide ranked components to assist user to make him/her decisions.</a:t>
            </a:r>
          </a:p>
          <a:p>
            <a:pPr lvl="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should provide security to the user databases and assign roles to users.</a:t>
            </a:r>
          </a:p>
          <a:p>
            <a:pPr lvl="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user selected query must provide instantaneous results.</a:t>
            </a:r>
          </a:p>
          <a:p>
            <a:r>
              <a:rPr 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17661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036" y="260845"/>
            <a:ext cx="10058400" cy="1450757"/>
          </a:xfrm>
        </p:spPr>
        <p:txBody>
          <a:bodyPr>
            <a:normAutofit/>
          </a:bodyPr>
          <a:lstStyle/>
          <a:p>
            <a:r>
              <a:rPr lang="en-US" sz="5400" b="1" dirty="0" smtClean="0"/>
              <a:t> </a:t>
            </a:r>
            <a:r>
              <a:rPr lang="en-US" sz="5400" b="1" dirty="0"/>
              <a:t>SPECIFIC REQUIREMENTS</a:t>
            </a:r>
            <a:endParaRPr lang="en-US" sz="5400" dirty="0"/>
          </a:p>
        </p:txBody>
      </p:sp>
      <p:sp>
        <p:nvSpPr>
          <p:cNvPr id="3" name="Content Placeholder 2"/>
          <p:cNvSpPr>
            <a:spLocks noGrp="1"/>
          </p:cNvSpPr>
          <p:nvPr>
            <p:ph idx="1"/>
          </p:nvPr>
        </p:nvSpPr>
        <p:spPr>
          <a:xfrm>
            <a:off x="1056068" y="1845733"/>
            <a:ext cx="10689464" cy="4542187"/>
          </a:xfrm>
        </p:spPr>
        <p:txBody>
          <a:bodyPr>
            <a:normAutofit fontScale="85000" lnSpcReduction="10000"/>
          </a:bodyPr>
          <a:lstStyle/>
          <a:p>
            <a:pPr marL="0" indent="0">
              <a:buNone/>
            </a:pPr>
            <a:r>
              <a:rPr lang="en-US" sz="2600" b="1" dirty="0" smtClean="0">
                <a:latin typeface="Times New Roman" panose="02020603050405020304" pitchFamily="18" charset="0"/>
                <a:cs typeface="Times New Roman" panose="02020603050405020304" pitchFamily="18" charset="0"/>
              </a:rPr>
              <a:t>  Software </a:t>
            </a:r>
            <a:r>
              <a:rPr lang="en-US" sz="2600" b="1" dirty="0">
                <a:latin typeface="Times New Roman" panose="02020603050405020304" pitchFamily="18" charset="0"/>
                <a:cs typeface="Times New Roman" panose="02020603050405020304" pitchFamily="18" charset="0"/>
              </a:rPr>
              <a:t>system attributes:</a:t>
            </a:r>
            <a:endParaRPr lang="en-US"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a:t>
            </a:r>
            <a:r>
              <a:rPr lang="en-IN" sz="2600" dirty="0" smtClean="0">
                <a:latin typeface="Times New Roman" panose="02020603050405020304" pitchFamily="18" charset="0"/>
                <a:cs typeface="Times New Roman" panose="02020603050405020304" pitchFamily="18" charset="0"/>
              </a:rPr>
              <a:t>There </a:t>
            </a:r>
            <a:r>
              <a:rPr lang="en-IN" sz="2600" dirty="0">
                <a:latin typeface="Times New Roman" panose="02020603050405020304" pitchFamily="18" charset="0"/>
                <a:cs typeface="Times New Roman" panose="02020603050405020304" pitchFamily="18" charset="0"/>
              </a:rPr>
              <a:t>are a number of attributes of software that can serve as requirements. It is important that required attributes be specified so that their achievement can be objectively </a:t>
            </a:r>
            <a:r>
              <a:rPr lang="en-IN" sz="2600" dirty="0" smtClean="0">
                <a:latin typeface="Times New Roman" panose="02020603050405020304" pitchFamily="18" charset="0"/>
                <a:cs typeface="Times New Roman" panose="02020603050405020304" pitchFamily="18" charset="0"/>
              </a:rPr>
              <a:t>verified.</a:t>
            </a:r>
            <a:endParaRPr lang="en-US" sz="2600" dirty="0" smtClean="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 </a:t>
            </a:r>
            <a:r>
              <a:rPr lang="en-US" sz="2600" b="1" dirty="0" smtClean="0">
                <a:latin typeface="Times New Roman" panose="02020603050405020304" pitchFamily="18" charset="0"/>
                <a:cs typeface="Times New Roman" panose="02020603050405020304" pitchFamily="18" charset="0"/>
              </a:rPr>
              <a:t>Reliability</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query results will be accurate and will be totally based on user preferences and ranking </a:t>
            </a:r>
            <a:r>
              <a:rPr lang="en-US" sz="2600" dirty="0" smtClean="0">
                <a:latin typeface="Times New Roman" panose="02020603050405020304" pitchFamily="18" charset="0"/>
                <a:cs typeface="Times New Roman" panose="02020603050405020304" pitchFamily="18" charset="0"/>
              </a:rPr>
              <a:t>algorithm</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 </a:t>
            </a:r>
            <a:r>
              <a:rPr lang="en-US" sz="2600" b="1" dirty="0" smtClean="0">
                <a:latin typeface="Times New Roman" panose="02020603050405020304" pitchFamily="18" charset="0"/>
                <a:cs typeface="Times New Roman" panose="02020603050405020304" pitchFamily="18" charset="0"/>
              </a:rPr>
              <a:t>Security</a:t>
            </a: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database and its data retrieval will be available for authorized users only.</a:t>
            </a:r>
          </a:p>
          <a:p>
            <a:r>
              <a:rPr lang="en-US" sz="2600" b="1" dirty="0" smtClean="0">
                <a:latin typeface="Times New Roman" panose="02020603050405020304" pitchFamily="18" charset="0"/>
                <a:cs typeface="Times New Roman" panose="02020603050405020304" pitchFamily="18" charset="0"/>
              </a:rPr>
              <a:t>Availability</a:t>
            </a: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system will be available as a web-application.</a:t>
            </a:r>
          </a:p>
          <a:p>
            <a:r>
              <a:rPr lang="en-IN" sz="2500" b="1" dirty="0">
                <a:latin typeface="Times New Roman" panose="02020603050405020304" pitchFamily="18"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6376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0" y="244698"/>
            <a:ext cx="10058400" cy="1262130"/>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r>
              <a:rPr lang="en-US" sz="6000" dirty="0" smtClean="0"/>
              <a:t/>
            </a:r>
            <a:br>
              <a:rPr lang="en-US" sz="6000" dirty="0" smtClean="0"/>
            </a:br>
            <a:r>
              <a:rPr lang="en-US" sz="2900" b="1" dirty="0" smtClean="0">
                <a:latin typeface="+mn-lt"/>
              </a:rPr>
              <a:t>CLASS Diagram</a:t>
            </a:r>
            <a:endParaRPr lang="en-US" sz="6000" b="1" dirty="0">
              <a:latin typeface="+mn-lt"/>
            </a:endParaRP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4705" y="1859806"/>
            <a:ext cx="10757994" cy="4115991"/>
          </a:xfrm>
        </p:spPr>
      </p:pic>
    </p:spTree>
    <p:extLst>
      <p:ext uri="{BB962C8B-B14F-4D97-AF65-F5344CB8AC3E}">
        <p14:creationId xmlns:p14="http://schemas.microsoft.com/office/powerpoint/2010/main" val="4158631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8492" y="170697"/>
            <a:ext cx="10058400" cy="1450757"/>
          </a:xfrm>
        </p:spPr>
        <p:txBody>
          <a:bodyPr>
            <a:normAutofit fontScale="90000"/>
          </a:bodyPr>
          <a:lstStyle/>
          <a:p>
            <a:r>
              <a:rPr lang="en-IN" b="1" dirty="0" smtClean="0"/>
              <a:t> </a:t>
            </a:r>
            <a:r>
              <a:rPr lang="en-IN" sz="6000" b="1" dirty="0" smtClean="0"/>
              <a:t>SOFTWARE DESIGN DOCUMENT</a:t>
            </a:r>
            <a:r>
              <a:rPr lang="en-US" sz="6000" dirty="0" smtClean="0"/>
              <a:t/>
            </a:r>
            <a:br>
              <a:rPr lang="en-US" sz="6000" dirty="0" smtClean="0"/>
            </a:br>
            <a:endParaRPr lang="en-US" sz="6000" dirty="0"/>
          </a:p>
        </p:txBody>
      </p:sp>
      <p:sp>
        <p:nvSpPr>
          <p:cNvPr id="3" name="Content Placeholder 2"/>
          <p:cNvSpPr>
            <a:spLocks noGrp="1"/>
          </p:cNvSpPr>
          <p:nvPr>
            <p:ph idx="1"/>
          </p:nvPr>
        </p:nvSpPr>
        <p:spPr>
          <a:xfrm>
            <a:off x="1097280" y="953037"/>
            <a:ext cx="10058400" cy="4916057"/>
          </a:xfrm>
        </p:spPr>
        <p:txBody>
          <a:bodyPr/>
          <a:lstStyle/>
          <a:p>
            <a:r>
              <a:rPr lang="en-IN" sz="2400" b="1" dirty="0" smtClean="0"/>
              <a:t>Structural Design:</a:t>
            </a:r>
            <a:endParaRPr lang="en-US" sz="2400"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7650" y="1764406"/>
            <a:ext cx="7618546" cy="4262907"/>
          </a:xfrm>
          <a:prstGeom prst="rect">
            <a:avLst/>
          </a:prstGeom>
        </p:spPr>
      </p:pic>
    </p:spTree>
    <p:extLst>
      <p:ext uri="{BB962C8B-B14F-4D97-AF65-F5344CB8AC3E}">
        <p14:creationId xmlns:p14="http://schemas.microsoft.com/office/powerpoint/2010/main" val="2511501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0" y="180309"/>
            <a:ext cx="10058400" cy="128788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r>
              <a:rPr lang="en-US" sz="6000" dirty="0" smtClean="0"/>
              <a:t/>
            </a:r>
            <a:br>
              <a:rPr lang="en-US" sz="6000" dirty="0" smtClean="0"/>
            </a:br>
            <a:r>
              <a:rPr lang="en-US" sz="2900" b="1" dirty="0" smtClean="0">
                <a:latin typeface="+mn-lt"/>
              </a:rPr>
              <a:t>Data Flow Diagram</a:t>
            </a:r>
            <a:endParaRPr lang="en-US" sz="6000" b="1" dirty="0">
              <a:latin typeface="+mn-lt"/>
            </a:endParaRP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9567" y="1631515"/>
            <a:ext cx="5254466" cy="4237473"/>
          </a:xfrm>
        </p:spPr>
      </p:pic>
    </p:spTree>
    <p:extLst>
      <p:ext uri="{BB962C8B-B14F-4D97-AF65-F5344CB8AC3E}">
        <p14:creationId xmlns:p14="http://schemas.microsoft.com/office/powerpoint/2010/main" val="2958362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28" y="119182"/>
            <a:ext cx="10058400" cy="1450757"/>
          </a:xfrm>
        </p:spPr>
        <p:txBody>
          <a:bodyPr>
            <a:normAutofit fontScale="90000"/>
          </a:bodyPr>
          <a:lstStyle/>
          <a:p>
            <a:r>
              <a:rPr lang="en-IN" b="1" dirty="0" smtClean="0"/>
              <a:t> </a:t>
            </a:r>
            <a:r>
              <a:rPr lang="en-IN" sz="6000" b="1" dirty="0"/>
              <a:t>SOFTWARE DESIGN DOCUMENT</a:t>
            </a:r>
            <a:r>
              <a:rPr lang="en-US" sz="6000" dirty="0"/>
              <a:t/>
            </a:r>
            <a:br>
              <a:rPr lang="en-US" sz="6000" dirty="0"/>
            </a:br>
            <a:r>
              <a:rPr lang="en-US" sz="6000" dirty="0" smtClean="0"/>
              <a:t> </a:t>
            </a:r>
            <a:r>
              <a:rPr lang="en-US" sz="2800" b="1" dirty="0" smtClean="0">
                <a:latin typeface="+mn-lt"/>
              </a:rPr>
              <a:t>Activity Diagram</a:t>
            </a:r>
            <a:endParaRPr lang="en-US" sz="6000" b="1" dirty="0">
              <a:latin typeface="+mn-l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38833" y="1790164"/>
            <a:ext cx="6481090" cy="4369166"/>
          </a:xfrm>
        </p:spPr>
      </p:pic>
    </p:spTree>
    <p:extLst>
      <p:ext uri="{BB962C8B-B14F-4D97-AF65-F5344CB8AC3E}">
        <p14:creationId xmlns:p14="http://schemas.microsoft.com/office/powerpoint/2010/main" val="3792620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1" y="0"/>
            <a:ext cx="10058400"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p>
          <a:p>
            <a:r>
              <a:rPr lang="en-IN" sz="2900" b="1" dirty="0" smtClean="0">
                <a:latin typeface="+mn-lt"/>
              </a:rPr>
              <a:t>Sequence diagram</a:t>
            </a:r>
            <a:endParaRPr lang="en-US" sz="4500" b="1" dirty="0">
              <a:latin typeface="+mn-l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3663" y="1701836"/>
            <a:ext cx="4842456" cy="4647449"/>
          </a:xfrm>
          <a:prstGeom prst="rect">
            <a:avLst/>
          </a:prstGeom>
        </p:spPr>
      </p:pic>
    </p:spTree>
    <p:extLst>
      <p:ext uri="{BB962C8B-B14F-4D97-AF65-F5344CB8AC3E}">
        <p14:creationId xmlns:p14="http://schemas.microsoft.com/office/powerpoint/2010/main" val="4253622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94251" y="0"/>
            <a:ext cx="10058400"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p>
          <a:p>
            <a:r>
              <a:rPr lang="en-IN" sz="2900" b="1" dirty="0" err="1" smtClean="0">
                <a:latin typeface="+mn-lt"/>
              </a:rPr>
              <a:t>Collabration</a:t>
            </a:r>
            <a:r>
              <a:rPr lang="en-IN" sz="2900" b="1" dirty="0" smtClean="0">
                <a:latin typeface="+mn-lt"/>
              </a:rPr>
              <a:t> diagram</a:t>
            </a:r>
            <a:endParaRPr lang="en-US" sz="4500" b="1" dirty="0">
              <a:latin typeface="+mn-l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3369" y="1866900"/>
            <a:ext cx="9350186" cy="4302080"/>
          </a:xfrm>
          <a:prstGeom prst="rect">
            <a:avLst/>
          </a:prstGeom>
        </p:spPr>
      </p:pic>
    </p:spTree>
    <p:extLst>
      <p:ext uri="{BB962C8B-B14F-4D97-AF65-F5344CB8AC3E}">
        <p14:creationId xmlns:p14="http://schemas.microsoft.com/office/powerpoint/2010/main" val="1678996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1691" y="1725769"/>
            <a:ext cx="4565788" cy="4778062"/>
          </a:xfrm>
          <a:prstGeom prst="rect">
            <a:avLst/>
          </a:prstGeom>
        </p:spPr>
      </p:pic>
      <p:sp>
        <p:nvSpPr>
          <p:cNvPr id="4" name="Title 1"/>
          <p:cNvSpPr txBox="1">
            <a:spLocks/>
          </p:cNvSpPr>
          <p:nvPr/>
        </p:nvSpPr>
        <p:spPr>
          <a:xfrm>
            <a:off x="968490" y="94708"/>
            <a:ext cx="10058400"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p>
          <a:p>
            <a:r>
              <a:rPr lang="en-IN" sz="2900" b="1" dirty="0" err="1" smtClean="0">
                <a:latin typeface="+mn-lt"/>
              </a:rPr>
              <a:t>UseCase</a:t>
            </a:r>
            <a:r>
              <a:rPr lang="en-IN" sz="2900" b="1" dirty="0" smtClean="0">
                <a:latin typeface="+mn-lt"/>
              </a:rPr>
              <a:t> diagram</a:t>
            </a:r>
            <a:endParaRPr lang="en-US" sz="4500" b="1" dirty="0">
              <a:latin typeface="+mn-lt"/>
            </a:endParaRPr>
          </a:p>
        </p:txBody>
      </p:sp>
    </p:spTree>
    <p:extLst>
      <p:ext uri="{BB962C8B-B14F-4D97-AF65-F5344CB8AC3E}">
        <p14:creationId xmlns:p14="http://schemas.microsoft.com/office/powerpoint/2010/main" val="553747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26217" y="154546"/>
            <a:ext cx="10058400" cy="1450757"/>
          </a:xfrm>
          <a:prstGeom prst="rect">
            <a:avLst/>
          </a:prstGeom>
        </p:spPr>
        <p:txBody>
          <a:bodyPr vert="horz" lIns="91440" tIns="45720" rIns="91440" bIns="45720" rtlCol="0" anchor="b">
            <a:normAutofit fontScale="97500"/>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smtClean="0"/>
              <a:t> </a:t>
            </a:r>
            <a:r>
              <a:rPr lang="en-IN" sz="6000" b="1" dirty="0" smtClean="0"/>
              <a:t>SOFTWARE DESIGN DOCUMENT</a:t>
            </a:r>
          </a:p>
          <a:p>
            <a:r>
              <a:rPr lang="en-IN" sz="2900" b="1" dirty="0" smtClean="0">
                <a:latin typeface="+mn-lt"/>
              </a:rPr>
              <a:t>Deployment diagram</a:t>
            </a:r>
            <a:endParaRPr lang="en-US" sz="4500" b="1" dirty="0">
              <a:latin typeface="+mn-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043" y="2692020"/>
            <a:ext cx="10850748" cy="1712555"/>
          </a:xfrm>
          <a:prstGeom prst="rect">
            <a:avLst/>
          </a:prstGeom>
        </p:spPr>
      </p:pic>
    </p:spTree>
    <p:extLst>
      <p:ext uri="{BB962C8B-B14F-4D97-AF65-F5344CB8AC3E}">
        <p14:creationId xmlns:p14="http://schemas.microsoft.com/office/powerpoint/2010/main" val="4010498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4249" y="814637"/>
            <a:ext cx="10058400" cy="1450757"/>
          </a:xfrm>
        </p:spPr>
        <p:txBody>
          <a:bodyPr>
            <a:normAutofit fontScale="90000"/>
          </a:bodyPr>
          <a:lstStyle/>
          <a:p>
            <a:r>
              <a:rPr lang="en-IN" b="1" dirty="0" smtClean="0"/>
              <a:t> </a:t>
            </a:r>
            <a:r>
              <a:rPr lang="en-IN" sz="6000" b="1" dirty="0"/>
              <a:t>TESTING, COSTING AND MEMBERS</a:t>
            </a:r>
            <a:r>
              <a:rPr lang="en-US" sz="6000" dirty="0"/>
              <a:t/>
            </a:r>
            <a:br>
              <a:rPr lang="en-US" sz="6000" dirty="0"/>
            </a:br>
            <a:endParaRPr lang="en-US" sz="6000" dirty="0"/>
          </a:p>
        </p:txBody>
      </p:sp>
      <p:sp>
        <p:nvSpPr>
          <p:cNvPr id="3" name="Content Placeholder 2"/>
          <p:cNvSpPr>
            <a:spLocks noGrp="1"/>
          </p:cNvSpPr>
          <p:nvPr>
            <p:ph idx="1"/>
          </p:nvPr>
        </p:nvSpPr>
        <p:spPr>
          <a:xfrm>
            <a:off x="1097280" y="1845733"/>
            <a:ext cx="10058400" cy="4310367"/>
          </a:xfrm>
        </p:spPr>
        <p:txBody>
          <a:bodyPr>
            <a:noAutofit/>
          </a:bodyPr>
          <a:lstStyle/>
          <a:p>
            <a:r>
              <a:rPr lang="en-IN"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5.1 Testing:</a:t>
            </a:r>
            <a:endParaRPr lang="en-US"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Testing the query form interface with provided database</a:t>
            </a:r>
            <a:endParaRPr lang="en-US"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Testing the results are accurate and based on the ranking algorithm.  </a:t>
            </a:r>
            <a:endParaRPr lang="en-US"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5.2 Costing:</a:t>
            </a:r>
            <a:endParaRPr lang="en-US"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Estimated hardware cost will be approx</a:t>
            </a:r>
            <a:r>
              <a:rPr lang="en-IN" sz="2400">
                <a:latin typeface="Times New Roman" panose="02020603050405020304" pitchFamily="18" charset="0"/>
                <a:cs typeface="Times New Roman" panose="02020603050405020304" pitchFamily="18" charset="0"/>
              </a:rPr>
              <a:t>. </a:t>
            </a:r>
            <a:r>
              <a:rPr lang="en-IN" sz="2400" smtClean="0">
                <a:latin typeface="Times New Roman" panose="02020603050405020304" pitchFamily="18" charset="0"/>
                <a:cs typeface="Times New Roman" panose="02020603050405020304" pitchFamily="18" charset="0"/>
              </a:rPr>
              <a:t>5000</a:t>
            </a:r>
            <a:r>
              <a:rPr lang="en-I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5.3 Members:</a:t>
            </a:r>
            <a:endParaRPr lang="en-US"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Maximum 5 members are required in this project.</a:t>
            </a:r>
            <a:endParaRPr lang="en-US"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1497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208"/>
            <a:ext cx="10058400" cy="1450757"/>
          </a:xfrm>
        </p:spPr>
        <p:txBody>
          <a:bodyPr>
            <a:normAutofit/>
          </a:bodyPr>
          <a:lstStyle/>
          <a:p>
            <a:r>
              <a:rPr lang="en-US" sz="5400" b="1" dirty="0" smtClean="0"/>
              <a:t>References</a:t>
            </a:r>
            <a:endParaRPr lang="en-US" sz="5400" b="1" dirty="0"/>
          </a:p>
        </p:txBody>
      </p:sp>
      <p:sp>
        <p:nvSpPr>
          <p:cNvPr id="3" name="Content Placeholder 2"/>
          <p:cNvSpPr>
            <a:spLocks noGrp="1"/>
          </p:cNvSpPr>
          <p:nvPr>
            <p:ph idx="1"/>
          </p:nvPr>
        </p:nvSpPr>
        <p:spPr>
          <a:xfrm>
            <a:off x="838200" y="1582813"/>
            <a:ext cx="10515600" cy="4678206"/>
          </a:xfrm>
        </p:spPr>
        <p:txBody>
          <a:bodyPr>
            <a:noAutofit/>
          </a:bodyPr>
          <a:lstStyle/>
          <a:p>
            <a:pPr lvl="0">
              <a:lnSpc>
                <a:spcPct val="150000"/>
              </a:lnSpc>
            </a:pPr>
            <a:r>
              <a:rPr lang="en-US" sz="1800" dirty="0">
                <a:latin typeface="Times New Roman" panose="02020603050405020304" pitchFamily="18" charset="0"/>
                <a:cs typeface="Times New Roman" panose="02020603050405020304" pitchFamily="18" charset="0"/>
              </a:rPr>
              <a:t>S. Agrawal, S. </a:t>
            </a:r>
            <a:r>
              <a:rPr lang="en-US" sz="1800" dirty="0" err="1">
                <a:latin typeface="Times New Roman" panose="02020603050405020304" pitchFamily="18" charset="0"/>
                <a:cs typeface="Times New Roman" panose="02020603050405020304" pitchFamily="18" charset="0"/>
              </a:rPr>
              <a:t>Chaudhuri</a:t>
            </a:r>
            <a:r>
              <a:rPr lang="en-US" sz="1800" dirty="0">
                <a:latin typeface="Times New Roman" panose="02020603050405020304" pitchFamily="18" charset="0"/>
                <a:cs typeface="Times New Roman" panose="02020603050405020304" pitchFamily="18" charset="0"/>
              </a:rPr>
              <a:t>, G. Das, and A. </a:t>
            </a:r>
            <a:r>
              <a:rPr lang="en-US" sz="1800" dirty="0" err="1">
                <a:latin typeface="Times New Roman" panose="02020603050405020304" pitchFamily="18" charset="0"/>
                <a:cs typeface="Times New Roman" panose="02020603050405020304" pitchFamily="18" charset="0"/>
              </a:rPr>
              <a:t>Gionis</a:t>
            </a:r>
            <a:r>
              <a:rPr lang="en-US" sz="1800" dirty="0">
                <a:latin typeface="Times New Roman" panose="02020603050405020304" pitchFamily="18" charset="0"/>
                <a:cs typeface="Times New Roman" panose="02020603050405020304" pitchFamily="18" charset="0"/>
              </a:rPr>
              <a:t>, “Automated ranking of database query results, ” in Proc. CIDR, 2003, pp. 888–899</a:t>
            </a:r>
          </a:p>
          <a:p>
            <a:pPr>
              <a:lnSpc>
                <a:spcPct val="150000"/>
              </a:lnSpc>
            </a:pPr>
            <a:r>
              <a:rPr lang="en-US" sz="1800" dirty="0">
                <a:latin typeface="Times New Roman" panose="02020603050405020304" pitchFamily="18" charset="0"/>
                <a:cs typeface="Times New Roman" panose="02020603050405020304" pitchFamily="18" charset="0"/>
              </a:rPr>
              <a:t>C. C. Aggarwal, J. Han, J. Wang, and P. S. Yu, “A framework for clustering evolving data streams,” in Proc. VLDB, Berlin, Germany, Sept. 2003, pp. 81– 92</a:t>
            </a:r>
            <a:r>
              <a:rPr lang="en-US" sz="1800" dirty="0" smtClean="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M. </a:t>
            </a:r>
            <a:r>
              <a:rPr lang="en-US" sz="1800" dirty="0" err="1">
                <a:latin typeface="Times New Roman" panose="02020603050405020304" pitchFamily="18" charset="0"/>
                <a:cs typeface="Times New Roman" panose="02020603050405020304" pitchFamily="18" charset="0"/>
              </a:rPr>
              <a:t>Jayapandian</a:t>
            </a:r>
            <a:r>
              <a:rPr lang="en-US" sz="1800" dirty="0">
                <a:latin typeface="Times New Roman" panose="02020603050405020304" pitchFamily="18" charset="0"/>
                <a:cs typeface="Times New Roman" panose="02020603050405020304" pitchFamily="18" charset="0"/>
              </a:rPr>
              <a:t> and H. V. </a:t>
            </a:r>
            <a:r>
              <a:rPr lang="en-US" sz="1800" dirty="0" err="1">
                <a:latin typeface="Times New Roman" panose="02020603050405020304" pitchFamily="18" charset="0"/>
                <a:cs typeface="Times New Roman" panose="02020603050405020304" pitchFamily="18" charset="0"/>
              </a:rPr>
              <a:t>Jagadish</a:t>
            </a:r>
            <a:r>
              <a:rPr lang="en-US" sz="1800" dirty="0">
                <a:latin typeface="Times New Roman" panose="02020603050405020304" pitchFamily="18" charset="0"/>
                <a:cs typeface="Times New Roman" panose="02020603050405020304" pitchFamily="18" charset="0"/>
              </a:rPr>
              <a:t>, “Automated creation of a forms-based database query interface,” Proc. VLDB, vol. 1, no. 1, Aug. 2008, pp. 695–709</a:t>
            </a:r>
            <a:r>
              <a:rPr lang="en-US" sz="1800" dirty="0" smtClean="0">
                <a:latin typeface="Times New Roman" panose="02020603050405020304" pitchFamily="18" charset="0"/>
                <a:cs typeface="Times New Roman" panose="02020603050405020304" pitchFamily="18" charset="0"/>
              </a:rPr>
              <a:t>.</a:t>
            </a:r>
          </a:p>
          <a:p>
            <a:pPr lvl="0">
              <a:lnSpc>
                <a:spcPct val="150000"/>
              </a:lnSpc>
            </a:pPr>
            <a:r>
              <a:rPr lang="en-US" sz="1800" dirty="0" smtClean="0">
                <a:latin typeface="Times New Roman" panose="02020603050405020304" pitchFamily="18" charset="0"/>
                <a:cs typeface="Times New Roman" panose="02020603050405020304" pitchFamily="18" charset="0"/>
              </a:rPr>
              <a:t>M</a:t>
            </a:r>
            <a:r>
              <a:rPr lang="en-US" sz="1800" dirty="0">
                <a:latin typeface="Times New Roman" panose="02020603050405020304" pitchFamily="18" charset="0"/>
                <a:cs typeface="Times New Roman" panose="02020603050405020304" pitchFamily="18" charset="0"/>
              </a:rPr>
              <a:t>. Jayapandian and H. V. Jagadish, “Automating the design and construction of query forms,” IEEE Trans. Knowl. Data Eng., vol. 21, no. 10, Oct. 2009, pp. 1389–1402</a:t>
            </a:r>
            <a:r>
              <a:rPr lang="en-US" sz="1800" dirty="0" smtClean="0">
                <a:latin typeface="Times New Roman" panose="02020603050405020304" pitchFamily="18" charset="0"/>
                <a:cs typeface="Times New Roman" panose="02020603050405020304" pitchFamily="18" charset="0"/>
              </a:rPr>
              <a:t>.</a:t>
            </a:r>
          </a:p>
          <a:p>
            <a:pPr marL="0" lvl="0" indent="0">
              <a:lnSpc>
                <a:spcPct val="150000"/>
              </a:lnSpc>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E</a:t>
            </a:r>
            <a:r>
              <a:rPr lang="en-US" sz="1800" dirty="0">
                <a:latin typeface="Times New Roman" panose="02020603050405020304" pitchFamily="18" charset="0"/>
                <a:cs typeface="Times New Roman" panose="02020603050405020304" pitchFamily="18" charset="0"/>
              </a:rPr>
              <a:t>. Chu, A. Baid, X. Chai, A. Doan, and J. F. Naughton, “Combining keyword search and forms for ad hoc querying </a:t>
            </a:r>
            <a:r>
              <a:rPr lang="en-US" sz="1800" dirty="0" smtClean="0">
                <a:latin typeface="Times New Roman" panose="02020603050405020304" pitchFamily="18" charset="0"/>
                <a:cs typeface="Times New Roman" panose="02020603050405020304" pitchFamily="18" charset="0"/>
              </a:rPr>
              <a:t>   of </a:t>
            </a:r>
            <a:r>
              <a:rPr lang="en-US" sz="1800" dirty="0">
                <a:latin typeface="Times New Roman" panose="02020603050405020304" pitchFamily="18" charset="0"/>
                <a:cs typeface="Times New Roman" panose="02020603050405020304" pitchFamily="18" charset="0"/>
              </a:rPr>
              <a:t>databases,” in Proc. ACM SIGMOD, Providence, RI, USA, Jun. 2009, pp. 349– 360</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lvl="0">
              <a:lnSpc>
                <a:spcPct val="150000"/>
              </a:lnSpc>
            </a:pP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0" indent="0">
              <a:lnSpc>
                <a:spcPct val="150000"/>
              </a:lnSpc>
              <a:buNone/>
            </a:pP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24940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783</TotalTime>
  <Words>774</Words>
  <Application>Microsoft Office PowerPoint</Application>
  <PresentationFormat>Widescreen</PresentationFormat>
  <Paragraphs>116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Retrospect</vt:lpstr>
      <vt:lpstr>Dynamic Query form for Database Queries </vt:lpstr>
      <vt:lpstr>Problem Statement</vt:lpstr>
      <vt:lpstr>    Problem Description:</vt:lpstr>
      <vt:lpstr>PowerPoint Presentation</vt:lpstr>
      <vt:lpstr> Scope:</vt:lpstr>
      <vt:lpstr>PowerPoint Presentation</vt:lpstr>
      <vt:lpstr>Requirements: </vt:lpstr>
      <vt:lpstr> Product Functions: </vt:lpstr>
      <vt:lpstr> Product Functions: </vt:lpstr>
      <vt:lpstr> Product Functions: </vt:lpstr>
      <vt:lpstr> SPECIFIC REQUIREMENTS </vt:lpstr>
      <vt:lpstr> SPECIFIC REQUIREMENTS </vt:lpstr>
      <vt:lpstr> SPECIFIC REQUIREMENTS</vt:lpstr>
      <vt:lpstr> SPECIFIC REQUIREMENTS</vt:lpstr>
      <vt:lpstr>PowerPoint Presentation</vt:lpstr>
      <vt:lpstr> SOFTWARE DESIGN DOCUMENT </vt:lpstr>
      <vt:lpstr>PowerPoint Presentation</vt:lpstr>
      <vt:lpstr> SOFTWARE DESIGN DOCUMENT  Activity Diagram</vt:lpstr>
      <vt:lpstr>PowerPoint Presentation</vt:lpstr>
      <vt:lpstr>PowerPoint Presentation</vt:lpstr>
      <vt:lpstr>PowerPoint Presentation</vt:lpstr>
      <vt:lpstr>PowerPoint Presentation</vt:lpstr>
      <vt:lpstr> TESTING, COSTING AND MEMBERS </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Query form generation</dc:title>
  <dc:creator>Aishwarya</dc:creator>
  <cp:lastModifiedBy>Admin</cp:lastModifiedBy>
  <cp:revision>47</cp:revision>
  <dcterms:created xsi:type="dcterms:W3CDTF">2016-08-12T04:53:01Z</dcterms:created>
  <dcterms:modified xsi:type="dcterms:W3CDTF">2017-03-20T07:30:21Z</dcterms:modified>
</cp:coreProperties>
</file>